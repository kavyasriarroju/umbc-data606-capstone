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88" autoAdjust="0"/>
    <p:restoredTop sz="94660"/>
  </p:normalViewPr>
  <p:slideViewPr>
    <p:cSldViewPr>
      <p:cViewPr>
        <p:scale>
          <a:sx n="74" d="100"/>
          <a:sy n="74" d="100"/>
        </p:scale>
        <p:origin x="12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-154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ya Sri Arroju" userId="4b5a95af94b066d7" providerId="LiveId" clId="{7BCA8B9C-66D0-4F44-900D-366C36797469}"/>
    <pc:docChg chg="custSel addSld modSld">
      <pc:chgData name="Kavya Sri Arroju" userId="4b5a95af94b066d7" providerId="LiveId" clId="{7BCA8B9C-66D0-4F44-900D-366C36797469}" dt="2026-04-24T00:00:18.821" v="181" actId="21"/>
      <pc:docMkLst>
        <pc:docMk/>
      </pc:docMkLst>
      <pc:sldChg chg="modSp mod">
        <pc:chgData name="Kavya Sri Arroju" userId="4b5a95af94b066d7" providerId="LiveId" clId="{7BCA8B9C-66D0-4F44-900D-366C36797469}" dt="2026-04-23T23:33:46.370" v="80" actId="1076"/>
        <pc:sldMkLst>
          <pc:docMk/>
          <pc:sldMk cId="0" sldId="256"/>
        </pc:sldMkLst>
        <pc:spChg chg="mod">
          <ac:chgData name="Kavya Sri Arroju" userId="4b5a95af94b066d7" providerId="LiveId" clId="{7BCA8B9C-66D0-4F44-900D-366C36797469}" dt="2026-04-23T23:33:34.243" v="79" actId="122"/>
          <ac:spMkLst>
            <pc:docMk/>
            <pc:sldMk cId="0" sldId="256"/>
            <ac:spMk id="34818" creationId="{00000000-0000-0000-0000-000000000000}"/>
          </ac:spMkLst>
        </pc:spChg>
        <pc:spChg chg="mod">
          <ac:chgData name="Kavya Sri Arroju" userId="4b5a95af94b066d7" providerId="LiveId" clId="{7BCA8B9C-66D0-4F44-900D-366C36797469}" dt="2026-04-23T23:33:46.370" v="80" actId="1076"/>
          <ac:spMkLst>
            <pc:docMk/>
            <pc:sldMk cId="0" sldId="256"/>
            <ac:spMk id="34819" creationId="{00000000-0000-0000-0000-000000000000}"/>
          </ac:spMkLst>
        </pc:spChg>
      </pc:sldChg>
      <pc:sldChg chg="modSp mod">
        <pc:chgData name="Kavya Sri Arroju" userId="4b5a95af94b066d7" providerId="LiveId" clId="{7BCA8B9C-66D0-4F44-900D-366C36797469}" dt="2026-04-23T23:37:59.728" v="160" actId="20577"/>
        <pc:sldMkLst>
          <pc:docMk/>
          <pc:sldMk cId="77635682" sldId="260"/>
        </pc:sldMkLst>
        <pc:spChg chg="mod">
          <ac:chgData name="Kavya Sri Arroju" userId="4b5a95af94b066d7" providerId="LiveId" clId="{7BCA8B9C-66D0-4F44-900D-366C36797469}" dt="2026-04-23T23:37:59.728" v="160" actId="20577"/>
          <ac:spMkLst>
            <pc:docMk/>
            <pc:sldMk cId="77635682" sldId="260"/>
            <ac:spMk id="114691" creationId="{649E7EF3-6D30-DA91-66BC-54351F65DD3B}"/>
          </ac:spMkLst>
        </pc:spChg>
      </pc:sldChg>
      <pc:sldChg chg="modSp mod">
        <pc:chgData name="Kavya Sri Arroju" userId="4b5a95af94b066d7" providerId="LiveId" clId="{7BCA8B9C-66D0-4F44-900D-366C36797469}" dt="2026-04-23T23:53:10.535" v="161" actId="20577"/>
        <pc:sldMkLst>
          <pc:docMk/>
          <pc:sldMk cId="2126601977" sldId="264"/>
        </pc:sldMkLst>
        <pc:spChg chg="mod">
          <ac:chgData name="Kavya Sri Arroju" userId="4b5a95af94b066d7" providerId="LiveId" clId="{7BCA8B9C-66D0-4F44-900D-366C36797469}" dt="2026-04-23T23:53:10.535" v="161" actId="20577"/>
          <ac:spMkLst>
            <pc:docMk/>
            <pc:sldMk cId="2126601977" sldId="264"/>
            <ac:spMk id="114691" creationId="{8A18DBED-12D8-3DE1-5111-161A73267F6F}"/>
          </ac:spMkLst>
        </pc:spChg>
      </pc:sldChg>
      <pc:sldChg chg="addSp modSp mod">
        <pc:chgData name="Kavya Sri Arroju" userId="4b5a95af94b066d7" providerId="LiveId" clId="{7BCA8B9C-66D0-4F44-900D-366C36797469}" dt="2026-04-23T23:53:32.802" v="162" actId="20577"/>
        <pc:sldMkLst>
          <pc:docMk/>
          <pc:sldMk cId="74116652" sldId="265"/>
        </pc:sldMkLst>
        <pc:spChg chg="mod">
          <ac:chgData name="Kavya Sri Arroju" userId="4b5a95af94b066d7" providerId="LiveId" clId="{7BCA8B9C-66D0-4F44-900D-366C36797469}" dt="2026-04-23T23:53:32.802" v="162" actId="20577"/>
          <ac:spMkLst>
            <pc:docMk/>
            <pc:sldMk cId="74116652" sldId="265"/>
            <ac:spMk id="3" creationId="{8A27B40B-55D3-BFB7-9A5B-F5185EA1443E}"/>
          </ac:spMkLst>
        </pc:spChg>
        <pc:picChg chg="add mod">
          <ac:chgData name="Kavya Sri Arroju" userId="4b5a95af94b066d7" providerId="LiveId" clId="{7BCA8B9C-66D0-4F44-900D-366C36797469}" dt="2026-04-17T02:12:20.922" v="68" actId="1076"/>
          <ac:picMkLst>
            <pc:docMk/>
            <pc:sldMk cId="74116652" sldId="265"/>
            <ac:picMk id="5" creationId="{D0445552-FB87-5C68-F317-40D260272678}"/>
          </ac:picMkLst>
        </pc:picChg>
      </pc:sldChg>
      <pc:sldChg chg="modSp mod">
        <pc:chgData name="Kavya Sri Arroju" userId="4b5a95af94b066d7" providerId="LiveId" clId="{7BCA8B9C-66D0-4F44-900D-366C36797469}" dt="2026-04-23T23:54:00.963" v="168" actId="20577"/>
        <pc:sldMkLst>
          <pc:docMk/>
          <pc:sldMk cId="3932642977" sldId="266"/>
        </pc:sldMkLst>
        <pc:spChg chg="mod">
          <ac:chgData name="Kavya Sri Arroju" userId="4b5a95af94b066d7" providerId="LiveId" clId="{7BCA8B9C-66D0-4F44-900D-366C36797469}" dt="2026-04-23T23:54:00.963" v="168" actId="20577"/>
          <ac:spMkLst>
            <pc:docMk/>
            <pc:sldMk cId="3932642977" sldId="266"/>
            <ac:spMk id="3" creationId="{4B776AB0-F8B8-C376-FEE4-0DC1312361BC}"/>
          </ac:spMkLst>
        </pc:spChg>
      </pc:sldChg>
      <pc:sldChg chg="addSp modSp mod">
        <pc:chgData name="Kavya Sri Arroju" userId="4b5a95af94b066d7" providerId="LiveId" clId="{7BCA8B9C-66D0-4F44-900D-366C36797469}" dt="2026-04-17T02:02:43.430" v="54" actId="1076"/>
        <pc:sldMkLst>
          <pc:docMk/>
          <pc:sldMk cId="3452709025" sldId="267"/>
        </pc:sldMkLst>
        <pc:spChg chg="mod">
          <ac:chgData name="Kavya Sri Arroju" userId="4b5a95af94b066d7" providerId="LiveId" clId="{7BCA8B9C-66D0-4F44-900D-366C36797469}" dt="2026-04-17T02:02:43.430" v="54" actId="1076"/>
          <ac:spMkLst>
            <pc:docMk/>
            <pc:sldMk cId="3452709025" sldId="267"/>
            <ac:spMk id="8" creationId="{A9BFE446-E76E-5E34-7F26-768EDDE77562}"/>
          </ac:spMkLst>
        </pc:spChg>
        <pc:picChg chg="add mod">
          <ac:chgData name="Kavya Sri Arroju" userId="4b5a95af94b066d7" providerId="LiveId" clId="{7BCA8B9C-66D0-4F44-900D-366C36797469}" dt="2026-04-17T02:02:35.758" v="53" actId="1076"/>
          <ac:picMkLst>
            <pc:docMk/>
            <pc:sldMk cId="3452709025" sldId="267"/>
            <ac:picMk id="11" creationId="{9892E693-691E-ECB0-C49E-0F47BDCB488B}"/>
          </ac:picMkLst>
        </pc:picChg>
      </pc:sldChg>
      <pc:sldChg chg="modSp mod">
        <pc:chgData name="Kavya Sri Arroju" userId="4b5a95af94b066d7" providerId="LiveId" clId="{7BCA8B9C-66D0-4F44-900D-366C36797469}" dt="2026-04-17T01:58:21.032" v="48" actId="20577"/>
        <pc:sldMkLst>
          <pc:docMk/>
          <pc:sldMk cId="1066769704" sldId="270"/>
        </pc:sldMkLst>
        <pc:spChg chg="mod">
          <ac:chgData name="Kavya Sri Arroju" userId="4b5a95af94b066d7" providerId="LiveId" clId="{7BCA8B9C-66D0-4F44-900D-366C36797469}" dt="2026-04-17T01:58:21.032" v="48" actId="20577"/>
          <ac:spMkLst>
            <pc:docMk/>
            <pc:sldMk cId="1066769704" sldId="270"/>
            <ac:spMk id="3" creationId="{1646A880-63AE-56BD-70C4-40D2FF9B7DFE}"/>
          </ac:spMkLst>
        </pc:spChg>
      </pc:sldChg>
      <pc:sldChg chg="addSp modSp mod">
        <pc:chgData name="Kavya Sri Arroju" userId="4b5a95af94b066d7" providerId="LiveId" clId="{7BCA8B9C-66D0-4F44-900D-366C36797469}" dt="2026-04-23T23:57:24.649" v="176" actId="1076"/>
        <pc:sldMkLst>
          <pc:docMk/>
          <pc:sldMk cId="1664488120" sldId="271"/>
        </pc:sldMkLst>
        <pc:spChg chg="mod">
          <ac:chgData name="Kavya Sri Arroju" userId="4b5a95af94b066d7" providerId="LiveId" clId="{7BCA8B9C-66D0-4F44-900D-366C36797469}" dt="2026-04-23T23:57:24.649" v="176" actId="1076"/>
          <ac:spMkLst>
            <pc:docMk/>
            <pc:sldMk cId="1664488120" sldId="271"/>
            <ac:spMk id="3" creationId="{A17BF867-9475-FFD1-7DAA-28A42266E8B5}"/>
          </ac:spMkLst>
        </pc:spChg>
        <pc:picChg chg="add mod">
          <ac:chgData name="Kavya Sri Arroju" userId="4b5a95af94b066d7" providerId="LiveId" clId="{7BCA8B9C-66D0-4F44-900D-366C36797469}" dt="2026-04-23T23:57:05.662" v="173" actId="14100"/>
          <ac:picMkLst>
            <pc:docMk/>
            <pc:sldMk cId="1664488120" sldId="271"/>
            <ac:picMk id="5" creationId="{5C1FC584-DC6C-D529-D7AD-A84307169FFA}"/>
          </ac:picMkLst>
        </pc:picChg>
      </pc:sldChg>
      <pc:sldChg chg="addSp delSp modSp mod">
        <pc:chgData name="Kavya Sri Arroju" userId="4b5a95af94b066d7" providerId="LiveId" clId="{7BCA8B9C-66D0-4F44-900D-366C36797469}" dt="2026-04-24T00:00:18.821" v="181" actId="21"/>
        <pc:sldMkLst>
          <pc:docMk/>
          <pc:sldMk cId="3170889560" sldId="272"/>
        </pc:sldMkLst>
        <pc:spChg chg="mod">
          <ac:chgData name="Kavya Sri Arroju" userId="4b5a95af94b066d7" providerId="LiveId" clId="{7BCA8B9C-66D0-4F44-900D-366C36797469}" dt="2026-04-17T01:57:46.666" v="43" actId="1076"/>
          <ac:spMkLst>
            <pc:docMk/>
            <pc:sldMk cId="3170889560" sldId="272"/>
            <ac:spMk id="2" creationId="{1FB689FF-5448-6A08-6747-09F8238C1513}"/>
          </ac:spMkLst>
        </pc:spChg>
        <pc:picChg chg="add del mod">
          <ac:chgData name="Kavya Sri Arroju" userId="4b5a95af94b066d7" providerId="LiveId" clId="{7BCA8B9C-66D0-4F44-900D-366C36797469}" dt="2026-04-24T00:00:18.821" v="181" actId="21"/>
          <ac:picMkLst>
            <pc:docMk/>
            <pc:sldMk cId="3170889560" sldId="272"/>
            <ac:picMk id="4" creationId="{8E96A752-6A80-5853-BADA-07D63C252BDE}"/>
          </ac:picMkLst>
        </pc:picChg>
      </pc:sldChg>
      <pc:sldChg chg="addSp modSp new mod">
        <pc:chgData name="Kavya Sri Arroju" userId="4b5a95af94b066d7" providerId="LiveId" clId="{7BCA8B9C-66D0-4F44-900D-366C36797469}" dt="2026-04-17T01:56:19.146" v="19" actId="1076"/>
        <pc:sldMkLst>
          <pc:docMk/>
          <pc:sldMk cId="1646841094" sldId="273"/>
        </pc:sldMkLst>
        <pc:spChg chg="mod">
          <ac:chgData name="Kavya Sri Arroju" userId="4b5a95af94b066d7" providerId="LiveId" clId="{7BCA8B9C-66D0-4F44-900D-366C36797469}" dt="2026-04-17T01:54:42.970" v="6" actId="1076"/>
          <ac:spMkLst>
            <pc:docMk/>
            <pc:sldMk cId="1646841094" sldId="273"/>
            <ac:spMk id="2" creationId="{C1B10FAE-3C25-9D8F-6BA3-72A893DE043D}"/>
          </ac:spMkLst>
        </pc:spChg>
        <pc:spChg chg="mod">
          <ac:chgData name="Kavya Sri Arroju" userId="4b5a95af94b066d7" providerId="LiveId" clId="{7BCA8B9C-66D0-4F44-900D-366C36797469}" dt="2026-04-17T01:56:13.616" v="18" actId="1076"/>
          <ac:spMkLst>
            <pc:docMk/>
            <pc:sldMk cId="1646841094" sldId="273"/>
            <ac:spMk id="3" creationId="{6325AB19-4C42-709D-18D1-9E2CF777270B}"/>
          </ac:spMkLst>
        </pc:spChg>
        <pc:picChg chg="add mod">
          <ac:chgData name="Kavya Sri Arroju" userId="4b5a95af94b066d7" providerId="LiveId" clId="{7BCA8B9C-66D0-4F44-900D-366C36797469}" dt="2026-04-17T01:56:19.146" v="19" actId="1076"/>
          <ac:picMkLst>
            <pc:docMk/>
            <pc:sldMk cId="1646841094" sldId="273"/>
            <ac:picMk id="5" creationId="{72C51CD6-91F0-B947-DAE7-61D465F3AC9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B274695-D9A9-4B5B-9181-6AB6E933B5F1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56100" y="2492375"/>
            <a:ext cx="4176713" cy="893763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>
              <a:defRPr sz="2000" b="1"/>
            </a:lvl1pPr>
          </a:lstStyle>
          <a:p>
            <a:r>
              <a:rPr lang="ru-RU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356100" y="3284538"/>
            <a:ext cx="4176713" cy="503237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 sz="2000" b="1"/>
            </a:lvl1pPr>
          </a:lstStyle>
          <a:p>
            <a:r>
              <a:rPr lang="ru-RU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331913" y="1052513"/>
            <a:ext cx="3703637" cy="5473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187950" y="1052513"/>
            <a:ext cx="3705225" cy="54737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004050" y="188913"/>
            <a:ext cx="1889125" cy="63373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331913" y="188913"/>
            <a:ext cx="5519737" cy="63373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31913" y="188913"/>
            <a:ext cx="7561262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31913" y="1052513"/>
            <a:ext cx="7561262" cy="547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Click to edit Master text styles</a:t>
            </a:r>
          </a:p>
          <a:p>
            <a:pPr lvl="1"/>
            <a:r>
              <a:rPr lang="ru-RU"/>
              <a:t>Second level</a:t>
            </a:r>
          </a:p>
          <a:p>
            <a:pPr lvl="2"/>
            <a:r>
              <a:rPr lang="ru-RU"/>
              <a:t>Third level</a:t>
            </a:r>
          </a:p>
          <a:p>
            <a:pPr lvl="3"/>
            <a:r>
              <a:rPr lang="ru-RU"/>
              <a:t>Fourth level</a:t>
            </a:r>
          </a:p>
          <a:p>
            <a:pPr lvl="4"/>
            <a:r>
              <a:rPr lang="ru-RU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b="1">
          <a:solidFill>
            <a:schemeClr val="bg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9344" y="-23599"/>
            <a:ext cx="5904656" cy="1225798"/>
          </a:xfrm>
          <a:noFill/>
        </p:spPr>
        <p:txBody>
          <a:bodyPr/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PJM Electricity Load Forecasting     using Machine Learning</a:t>
            </a:r>
            <a:endParaRPr lang="uk-UA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44008" y="1628800"/>
            <a:ext cx="3887788" cy="93610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Professor: Chaojie Wang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Course: Data-606 Capstone</a:t>
            </a:r>
          </a:p>
          <a:p>
            <a:pPr>
              <a:lnSpc>
                <a:spcPct val="90000"/>
              </a:lnSpc>
            </a:pPr>
            <a:endParaRPr lang="uk-U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A911B3-70D2-B897-8445-E8C73FB6EC65}"/>
              </a:ext>
            </a:extLst>
          </p:cNvPr>
          <p:cNvSpPr txBox="1"/>
          <p:nvPr/>
        </p:nvSpPr>
        <p:spPr>
          <a:xfrm>
            <a:off x="3779912" y="4293096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Presenter: Kavya Sri Arroju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666884" y="332656"/>
            <a:ext cx="4321175" cy="649287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uk-UA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03648" y="1699675"/>
            <a:ext cx="6768751" cy="4104456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ko-KR" sz="2400" dirty="0"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Electricity demand fluctuates hourly depending on human activities.</a:t>
            </a:r>
          </a:p>
          <a:p>
            <a:pPr>
              <a:lnSpc>
                <a:spcPct val="90000"/>
              </a:lnSpc>
            </a:pPr>
            <a:r>
              <a:rPr lang="en-US" altLang="ko-KR" sz="2400" dirty="0"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Power grids need to ensure balance between supply and demand</a:t>
            </a:r>
          </a:p>
          <a:p>
            <a:pPr>
              <a:lnSpc>
                <a:spcPct val="90000"/>
              </a:lnSpc>
            </a:pPr>
            <a:r>
              <a:rPr lang="en-US" altLang="ko-KR" sz="2400" dirty="0"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Inaccurate predictions result in losses and power interruptions.</a:t>
            </a:r>
          </a:p>
          <a:p>
            <a:pPr>
              <a:lnSpc>
                <a:spcPct val="90000"/>
              </a:lnSpc>
            </a:pPr>
            <a:r>
              <a:rPr lang="en-US" altLang="ko-KR" sz="2400" dirty="0">
                <a:latin typeface="Times New Roman" panose="02020603050405020304" pitchFamily="18" charset="0"/>
                <a:ea typeface="굴림" charset="-127"/>
                <a:cs typeface="Times New Roman" panose="02020603050405020304" pitchFamily="18" charset="0"/>
              </a:rPr>
              <a:t>Prediction will be vital for optimization and stabilization.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ko-KR" sz="2000" dirty="0">
              <a:latin typeface="Verdana" pitchFamily="34" charset="0"/>
              <a:ea typeface="굴림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B46373-59DA-D2E9-8F45-0E857826F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65" b="18620"/>
          <a:stretch>
            <a:fillRect/>
          </a:stretch>
        </p:blipFill>
        <p:spPr>
          <a:xfrm>
            <a:off x="2555776" y="4869160"/>
            <a:ext cx="4176464" cy="1368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08175" y="188913"/>
            <a:ext cx="7056438" cy="7239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8175" y="1268759"/>
            <a:ext cx="6192217" cy="3744417"/>
          </a:xfrm>
        </p:spPr>
        <p:txBody>
          <a:bodyPr/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Electricity demands vary based on certain variables.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 include, but are not limited to, time and seasons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approaches cannot account for their complexities.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innovative approach is needed for accurate prediction.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F0E8EB-10E1-8020-AE75-E7A1FE6BC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6" t="6321" r="7669" b="9058"/>
          <a:stretch>
            <a:fillRect/>
          </a:stretch>
        </p:blipFill>
        <p:spPr>
          <a:xfrm>
            <a:off x="6228184" y="4221088"/>
            <a:ext cx="2232248" cy="2160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A8C1F-69CB-8977-5C74-2AF300CC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52B4AF86-A496-1A78-9C64-712CA07503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8175" y="188913"/>
            <a:ext cx="7056438" cy="7239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534E2ECF-1BCA-C3AB-B74E-267F2FDC0E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8175" y="1268759"/>
            <a:ext cx="6192217" cy="1800201"/>
          </a:xfrm>
        </p:spPr>
        <p:txBody>
          <a:bodyPr/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model to predict hourly electricity demand.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the model using past time-series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4F5DE4-E41B-32D6-7008-684E660A4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068960"/>
            <a:ext cx="5256584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080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FEBE1-4C6F-88E6-7A8C-C324D70DB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AC866520-F8CF-5605-5813-9CFFA9661C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8175" y="188913"/>
            <a:ext cx="7056438" cy="7239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1823147C-696C-4EB9-B551-9B1C96E710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56420" y="1196752"/>
            <a:ext cx="6192217" cy="3744417"/>
          </a:xfrm>
        </p:spPr>
        <p:txBody>
          <a:bodyPr/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downloaded from Kaggle (PJM electricity data).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hourly data spanning from 2002 to 2018.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140,000 observations.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timestamp and electricity load measurements.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1E380C-55E4-DDE1-E13B-C16A6B737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82" r="24582"/>
          <a:stretch/>
        </p:blipFill>
        <p:spPr>
          <a:xfrm rot="20938870">
            <a:off x="3995936" y="3933056"/>
            <a:ext cx="2891644" cy="216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26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8B4F55-BF79-685F-0FDC-29D0D3D55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B84814BA-8A36-79A3-D7F7-22518868C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8175" y="188913"/>
            <a:ext cx="7056438" cy="7239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649E7EF3-6D30-DA91-66BC-54351F65DD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8175" y="1268759"/>
            <a:ext cx="6192217" cy="2160241"/>
          </a:xfrm>
        </p:spPr>
        <p:txBody>
          <a:bodyPr/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observation corresponds to one hour of electricity consumption.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PJME_MW (electricity load in megawatts).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time-Series and sequential.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Needs feature extraction based on time.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35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58539-2C4C-C628-5B0E-932E000B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A345A-3D2C-E314-7D15-F5831B04A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913" y="1556792"/>
            <a:ext cx="7561262" cy="5473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Analyzed trends in electricity consumption over time.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daily, weekly, and seasonal trends.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trends during weekdays and weekends.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consistent repeating trends in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06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74D66-E867-1216-D942-0E1F251FE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5C634C8E-9AD6-6266-8C04-6D31F71ADA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8175" y="188913"/>
            <a:ext cx="7056438" cy="7239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 Visualizations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7DC5B76-4E92-1314-C1F3-FA7E4BF1DC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87562" y="4649178"/>
            <a:ext cx="7056438" cy="2592015"/>
          </a:xfrm>
        </p:spPr>
        <p:txBody>
          <a:bodyPr/>
          <a:lstStyle/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demand is seen more on weekdays than weekends.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Seasonal trends show variation across months.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Peaks in demand happen during very hot or cold times.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pattern can be helpful in feature engineering.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2E59ED-60BE-9F6D-3029-AD25BA9D7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236" y="1412776"/>
            <a:ext cx="3378374" cy="24766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ACA009-DFA6-4AC2-8E7B-F912E19CDB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248" y="1412776"/>
            <a:ext cx="3840560" cy="228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251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CA78D7-E197-8745-40E3-AAC3767BF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A5E08C63-F621-573D-71FF-4BA232EA8B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8175" y="260648"/>
            <a:ext cx="7056438" cy="7239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Hourly Pattern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8A18DBED-12D8-3DE1-5111-161A73267F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0285" y="3933056"/>
            <a:ext cx="6192217" cy="3744417"/>
          </a:xfrm>
        </p:spPr>
        <p:txBody>
          <a:bodyPr/>
          <a:lstStyle/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demand is seen when people work.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Usage peaks in the late afternoon/ evening.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 cycles are clearly visible from the graph.</a:t>
            </a:r>
          </a:p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9C0551-CAD7-1ABF-340D-71F2F6451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585" y="1196752"/>
            <a:ext cx="5416384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01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79023-93D3-8F36-CE3F-659728649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7B40B-55D3-BFB7-9A5B-F5185EA14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7" y="4149080"/>
            <a:ext cx="7561262" cy="1800199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features such as hour, day, and month extracted.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 features were created to capture previous observations.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rolling average feature was included for smoothing trends.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Cyclical encoding is used for time-related trends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45552-FB87-5C68-F317-40D260272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38" y="1455536"/>
            <a:ext cx="8496201" cy="229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16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B8B85-8967-EAD1-99CD-3B8AFD046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76AB0-F8B8-C376-FEE4-0DC131236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testing data divided (80% training/20% testing).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serves as the baseline regression algorithm.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used as an advanced predictive model.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built to understand electricity demand patterns.</a:t>
            </a:r>
          </a:p>
        </p:txBody>
      </p:sp>
    </p:spTree>
    <p:extLst>
      <p:ext uri="{BB962C8B-B14F-4D97-AF65-F5344CB8AC3E}">
        <p14:creationId xmlns:p14="http://schemas.microsoft.com/office/powerpoint/2010/main" val="3932642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7EA5E-8092-18FF-59F0-6150B1B04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9BFE446-E76E-5E34-7F26-768EDDE7756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87624" y="3356992"/>
            <a:ext cx="7561262" cy="2936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Absolute Error calculates the average error rate.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Mean Square Error emphasizes large deviations.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R² shows how well model explains variance.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compare model performance.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92E693-691E-ECB0-C49E-0F47BDCB48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274224"/>
            <a:ext cx="6518455" cy="167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709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47DD5-FD31-BF4D-F441-F4A762134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B21694CD-32DE-F2D9-39B5-E43BE73086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8175" y="188913"/>
            <a:ext cx="7056438" cy="7239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4E4D3E7F-1D4D-001A-1BA5-4126119F79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8175" y="1268759"/>
            <a:ext cx="6192217" cy="3744417"/>
          </a:xfrm>
        </p:spPr>
        <p:txBody>
          <a:bodyPr/>
          <a:lstStyle/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Random Forest model shows less errors compared to Linear Regression.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achieved great accuracy with the R² approaching 1.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shows good performance in terms of prediction.</a:t>
            </a:r>
          </a:p>
          <a:p>
            <a:r>
              <a:rPr 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can be used to accurately estimate the electricity 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474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7E4C2E-415E-9713-CCD9-F77D4C034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F2A6BD47-B065-8BD2-098B-BE4CB3EE7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99548" y="188640"/>
            <a:ext cx="7056438" cy="7239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vs Predicted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715FFD62-C207-45C2-FBDC-0300B9E4C2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95736" y="3933056"/>
            <a:ext cx="6192217" cy="3744417"/>
          </a:xfrm>
        </p:spPr>
        <p:txBody>
          <a:bodyPr/>
          <a:lstStyle/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evident that the predicted demand values are very close to the actual values.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was able to capture the overall trend and fluctuations.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very little difference between the two lines (actual and predicted).</a:t>
            </a:r>
          </a:p>
          <a:p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proves that the model was highly accurate.</a:t>
            </a:r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67CFA8-A534-9762-ACE6-6187BEEC2A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1722" y="1009053"/>
            <a:ext cx="7074264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9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FAE-3C25-9D8F-6BA3-72A893DE0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7956" y="260648"/>
            <a:ext cx="7561262" cy="508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5AB19-4C42-709D-18D1-9E2CF7772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4573202"/>
            <a:ext cx="7416824" cy="202415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an interactive dashboard with the help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visualization of electricity demand data and prediction results.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and performance evaluation can be performed.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a demand status indicator</a:t>
            </a:r>
            <a:r>
              <a:rPr lang="en-US" sz="20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C51CD6-91F0-B947-DAE7-61D465F3A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268760"/>
            <a:ext cx="6071832" cy="308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41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ECE06-5271-019B-5B55-04C3058FF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6A880-63AE-56BD-70C4-40D2FF9B7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0787" y="1484784"/>
            <a:ext cx="7561262" cy="432048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demand exhibits strong temporal patterns.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enhances the performance of the model.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can predict non-linear relationships.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prediction accuracy achieved by the model is almost perfect.</a:t>
            </a:r>
          </a:p>
        </p:txBody>
      </p:sp>
    </p:spTree>
    <p:extLst>
      <p:ext uri="{BB962C8B-B14F-4D97-AF65-F5344CB8AC3E}">
        <p14:creationId xmlns:p14="http://schemas.microsoft.com/office/powerpoint/2010/main" val="1066769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0BC8-3CEE-6FBE-049A-0941816CB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BF867-9475-FFD1-7DAA-28A42266E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608" y="4221088"/>
            <a:ext cx="7561262" cy="223224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weather data in the model.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features based on holidays and events.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deep learning models such as LSTM.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real-time forecasting system.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1FC584-DC6C-D529-D7AD-A84307169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840" y="1022958"/>
            <a:ext cx="2736304" cy="275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488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89FF-5448-6A08-6747-09F8238C1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664" y="1124744"/>
            <a:ext cx="6048672" cy="3874341"/>
          </a:xfrm>
        </p:spPr>
        <p:txBody>
          <a:bodyPr/>
          <a:lstStyle/>
          <a:p>
            <a:pPr algn="ctr"/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889560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3">
      <a:dk1>
        <a:srgbClr val="4D4D4D"/>
      </a:dk1>
      <a:lt1>
        <a:srgbClr val="FFFFFF"/>
      </a:lt1>
      <a:dk2>
        <a:srgbClr val="000000"/>
      </a:dk2>
      <a:lt2>
        <a:srgbClr val="043000"/>
      </a:lt2>
      <a:accent1>
        <a:srgbClr val="33A900"/>
      </a:accent1>
      <a:accent2>
        <a:srgbClr val="525B56"/>
      </a:accent2>
      <a:accent3>
        <a:srgbClr val="FFFFFF"/>
      </a:accent3>
      <a:accent4>
        <a:srgbClr val="404040"/>
      </a:accent4>
      <a:accent5>
        <a:srgbClr val="ADD1AA"/>
      </a:accent5>
      <a:accent6>
        <a:srgbClr val="49524D"/>
      </a:accent6>
      <a:hlink>
        <a:srgbClr val="747D79"/>
      </a:hlink>
      <a:folHlink>
        <a:srgbClr val="EAEAEA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6E6046"/>
        </a:lt2>
        <a:accent1>
          <a:srgbClr val="B69E77"/>
        </a:accent1>
        <a:accent2>
          <a:srgbClr val="9E280E"/>
        </a:accent2>
        <a:accent3>
          <a:srgbClr val="FFFFFF"/>
        </a:accent3>
        <a:accent4>
          <a:srgbClr val="404040"/>
        </a:accent4>
        <a:accent5>
          <a:srgbClr val="D7CCBD"/>
        </a:accent5>
        <a:accent6>
          <a:srgbClr val="8F230C"/>
        </a:accent6>
        <a:hlink>
          <a:srgbClr val="FFC6A4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6E6046"/>
        </a:lt2>
        <a:accent1>
          <a:srgbClr val="B69E77"/>
        </a:accent1>
        <a:accent2>
          <a:srgbClr val="9E280E"/>
        </a:accent2>
        <a:accent3>
          <a:srgbClr val="FFFFFF"/>
        </a:accent3>
        <a:accent4>
          <a:srgbClr val="404040"/>
        </a:accent4>
        <a:accent5>
          <a:srgbClr val="D7CCBD"/>
        </a:accent5>
        <a:accent6>
          <a:srgbClr val="8F230C"/>
        </a:accent6>
        <a:hlink>
          <a:srgbClr val="E1C6A4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532F3C"/>
        </a:lt2>
        <a:accent1>
          <a:srgbClr val="CDC09A"/>
        </a:accent1>
        <a:accent2>
          <a:srgbClr val="AC9F55"/>
        </a:accent2>
        <a:accent3>
          <a:srgbClr val="FFFFFF"/>
        </a:accent3>
        <a:accent4>
          <a:srgbClr val="404040"/>
        </a:accent4>
        <a:accent5>
          <a:srgbClr val="E3DCCA"/>
        </a:accent5>
        <a:accent6>
          <a:srgbClr val="9B904C"/>
        </a:accent6>
        <a:hlink>
          <a:srgbClr val="DBD3C7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064300"/>
        </a:lt2>
        <a:accent1>
          <a:srgbClr val="AC927F"/>
        </a:accent1>
        <a:accent2>
          <a:srgbClr val="3AAE00"/>
        </a:accent2>
        <a:accent3>
          <a:srgbClr val="FFFFFF"/>
        </a:accent3>
        <a:accent4>
          <a:srgbClr val="404040"/>
        </a:accent4>
        <a:accent5>
          <a:srgbClr val="D2C7C0"/>
        </a:accent5>
        <a:accent6>
          <a:srgbClr val="349D00"/>
        </a:accent6>
        <a:hlink>
          <a:srgbClr val="D2B8A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033100"/>
        </a:lt2>
        <a:accent1>
          <a:srgbClr val="2F9400"/>
        </a:accent1>
        <a:accent2>
          <a:srgbClr val="6C838B"/>
        </a:accent2>
        <a:accent3>
          <a:srgbClr val="FFFFFF"/>
        </a:accent3>
        <a:accent4>
          <a:srgbClr val="404040"/>
        </a:accent4>
        <a:accent5>
          <a:srgbClr val="ADC8AA"/>
        </a:accent5>
        <a:accent6>
          <a:srgbClr val="61767D"/>
        </a:accent6>
        <a:hlink>
          <a:srgbClr val="996E68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063B00"/>
        </a:lt2>
        <a:accent1>
          <a:srgbClr val="33A800"/>
        </a:accent1>
        <a:accent2>
          <a:srgbClr val="B26D33"/>
        </a:accent2>
        <a:accent3>
          <a:srgbClr val="FFFFFF"/>
        </a:accent3>
        <a:accent4>
          <a:srgbClr val="404040"/>
        </a:accent4>
        <a:accent5>
          <a:srgbClr val="ADD1AA"/>
        </a:accent5>
        <a:accent6>
          <a:srgbClr val="A1622D"/>
        </a:accent6>
        <a:hlink>
          <a:srgbClr val="CE793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224700"/>
        </a:lt2>
        <a:accent1>
          <a:srgbClr val="68A500"/>
        </a:accent1>
        <a:accent2>
          <a:srgbClr val="8CB400"/>
        </a:accent2>
        <a:accent3>
          <a:srgbClr val="FFFFFF"/>
        </a:accent3>
        <a:accent4>
          <a:srgbClr val="404040"/>
        </a:accent4>
        <a:accent5>
          <a:srgbClr val="B9CFAA"/>
        </a:accent5>
        <a:accent6>
          <a:srgbClr val="7EA300"/>
        </a:accent6>
        <a:hlink>
          <a:srgbClr val="DC888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224700"/>
        </a:lt2>
        <a:accent1>
          <a:srgbClr val="68A500"/>
        </a:accent1>
        <a:accent2>
          <a:srgbClr val="8CB400"/>
        </a:accent2>
        <a:accent3>
          <a:srgbClr val="FFFFFF"/>
        </a:accent3>
        <a:accent4>
          <a:srgbClr val="404040"/>
        </a:accent4>
        <a:accent5>
          <a:srgbClr val="B9CFAA"/>
        </a:accent5>
        <a:accent6>
          <a:srgbClr val="7EA300"/>
        </a:accent6>
        <a:hlink>
          <a:srgbClr val="C0C42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265400"/>
        </a:lt2>
        <a:accent1>
          <a:srgbClr val="37A091"/>
        </a:accent1>
        <a:accent2>
          <a:srgbClr val="CC8587"/>
        </a:accent2>
        <a:accent3>
          <a:srgbClr val="FFFFFF"/>
        </a:accent3>
        <a:accent4>
          <a:srgbClr val="404040"/>
        </a:accent4>
        <a:accent5>
          <a:srgbClr val="AECDC7"/>
        </a:accent5>
        <a:accent6>
          <a:srgbClr val="B9787A"/>
        </a:accent6>
        <a:hlink>
          <a:srgbClr val="FCE46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546715"/>
        </a:lt2>
        <a:accent1>
          <a:srgbClr val="EF733A"/>
        </a:accent1>
        <a:accent2>
          <a:srgbClr val="C1D72E"/>
        </a:accent2>
        <a:accent3>
          <a:srgbClr val="FFFFFF"/>
        </a:accent3>
        <a:accent4>
          <a:srgbClr val="404040"/>
        </a:accent4>
        <a:accent5>
          <a:srgbClr val="F6BCAE"/>
        </a:accent5>
        <a:accent6>
          <a:srgbClr val="AFC329"/>
        </a:accent6>
        <a:hlink>
          <a:srgbClr val="F1954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406910"/>
        </a:lt2>
        <a:accent1>
          <a:srgbClr val="D04611"/>
        </a:accent1>
        <a:accent2>
          <a:srgbClr val="77BB0F"/>
        </a:accent2>
        <a:accent3>
          <a:srgbClr val="FFFFFF"/>
        </a:accent3>
        <a:accent4>
          <a:srgbClr val="404040"/>
        </a:accent4>
        <a:accent5>
          <a:srgbClr val="E4B0AA"/>
        </a:accent5>
        <a:accent6>
          <a:srgbClr val="6BA90C"/>
        </a:accent6>
        <a:hlink>
          <a:srgbClr val="6CA2C7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2">
        <a:dk1>
          <a:srgbClr val="4D4D4D"/>
        </a:dk1>
        <a:lt1>
          <a:srgbClr val="FFFFFF"/>
        </a:lt1>
        <a:dk2>
          <a:srgbClr val="000000"/>
        </a:dk2>
        <a:lt2>
          <a:srgbClr val="102214"/>
        </a:lt2>
        <a:accent1>
          <a:srgbClr val="457136"/>
        </a:accent1>
        <a:accent2>
          <a:srgbClr val="599B51"/>
        </a:accent2>
        <a:accent3>
          <a:srgbClr val="FFFFFF"/>
        </a:accent3>
        <a:accent4>
          <a:srgbClr val="404040"/>
        </a:accent4>
        <a:accent5>
          <a:srgbClr val="B0BBAE"/>
        </a:accent5>
        <a:accent6>
          <a:srgbClr val="508C49"/>
        </a:accent6>
        <a:hlink>
          <a:srgbClr val="78A55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3">
        <a:dk1>
          <a:srgbClr val="4D4D4D"/>
        </a:dk1>
        <a:lt1>
          <a:srgbClr val="FFFFFF"/>
        </a:lt1>
        <a:dk2>
          <a:srgbClr val="000000"/>
        </a:dk2>
        <a:lt2>
          <a:srgbClr val="043000"/>
        </a:lt2>
        <a:accent1>
          <a:srgbClr val="33A900"/>
        </a:accent1>
        <a:accent2>
          <a:srgbClr val="525B56"/>
        </a:accent2>
        <a:accent3>
          <a:srgbClr val="FFFFFF"/>
        </a:accent3>
        <a:accent4>
          <a:srgbClr val="404040"/>
        </a:accent4>
        <a:accent5>
          <a:srgbClr val="ADD1AA"/>
        </a:accent5>
        <a:accent6>
          <a:srgbClr val="49524D"/>
        </a:accent6>
        <a:hlink>
          <a:srgbClr val="747D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</TotalTime>
  <Words>599</Words>
  <Application>Microsoft Office PowerPoint</Application>
  <PresentationFormat>On-screen Show (4:3)</PresentationFormat>
  <Paragraphs>82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Times New Roman</vt:lpstr>
      <vt:lpstr>Verdana</vt:lpstr>
      <vt:lpstr>template</vt:lpstr>
      <vt:lpstr>PJM Electricity Load Forecasting     using Machine Learning</vt:lpstr>
      <vt:lpstr>Introduction</vt:lpstr>
      <vt:lpstr>Problem Statement</vt:lpstr>
      <vt:lpstr>Objective</vt:lpstr>
      <vt:lpstr>Dataset</vt:lpstr>
      <vt:lpstr>Data Understanding</vt:lpstr>
      <vt:lpstr>Exploratory Data Analysis</vt:lpstr>
      <vt:lpstr>EDA Visualizations</vt:lpstr>
      <vt:lpstr>Hourly Pattern</vt:lpstr>
      <vt:lpstr>Feature Engineering</vt:lpstr>
      <vt:lpstr>Model Building</vt:lpstr>
      <vt:lpstr>Evaluation Metrics</vt:lpstr>
      <vt:lpstr>Results</vt:lpstr>
      <vt:lpstr>Actual vs Predicted</vt:lpstr>
      <vt:lpstr>DASHBOARD </vt:lpstr>
      <vt:lpstr>Conclusion</vt:lpstr>
      <vt:lpstr>Future Work</vt:lpstr>
      <vt:lpstr>Thank You</vt:lpstr>
    </vt:vector>
  </TitlesOfParts>
  <Company>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PoweredTemplates.com</dc:creator>
  <cp:lastModifiedBy>Kavya Sri Arroju</cp:lastModifiedBy>
  <cp:revision>73</cp:revision>
  <dcterms:created xsi:type="dcterms:W3CDTF">2006-06-13T13:03:30Z</dcterms:created>
  <dcterms:modified xsi:type="dcterms:W3CDTF">2026-04-24T01:57:36Z</dcterms:modified>
</cp:coreProperties>
</file>